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70" r:id="rId10"/>
    <p:sldId id="261" r:id="rId11"/>
    <p:sldId id="267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Tomorrow" panose="020B0604020202020204" charset="0"/>
      <p:regular r:id="rId21"/>
    </p:embeddedFont>
    <p:embeddedFont>
      <p:font typeface="Tomorrow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613345" cy="2533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05425" y="3356452"/>
            <a:ext cx="14477150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spc="-300" dirty="0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OPERATIVNI  SISTEMI  I  EDGE PLATFORME ZA IOT</a:t>
            </a:r>
          </a:p>
          <a:p>
            <a:pPr algn="ctr"/>
            <a:r>
              <a:rPr lang="en-US" sz="7200" b="1" spc="-300" dirty="0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(PROJEKAT 2)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792541" y="7594563"/>
            <a:ext cx="7217209" cy="977937"/>
            <a:chOff x="0" y="-27556"/>
            <a:chExt cx="1900829" cy="2575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0829" cy="209938"/>
            </a:xfrm>
            <a:custGeom>
              <a:avLst/>
              <a:gdLst/>
              <a:ahLst/>
              <a:cxnLst/>
              <a:rect l="l" t="t" r="r" b="b"/>
              <a:pathLst>
                <a:path w="1900829" h="209938">
                  <a:moveTo>
                    <a:pt x="203200" y="0"/>
                  </a:moveTo>
                  <a:lnTo>
                    <a:pt x="1900829" y="0"/>
                  </a:lnTo>
                  <a:lnTo>
                    <a:pt x="1697629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600" y="-27556"/>
              <a:ext cx="1697629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Aleksandar Đorđević 2147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30708" y="1934332"/>
            <a:ext cx="1478228" cy="398555"/>
            <a:chOff x="0" y="0"/>
            <a:chExt cx="1970971" cy="531406"/>
          </a:xfrm>
        </p:grpSpPr>
        <p:grpSp>
          <p:nvGrpSpPr>
            <p:cNvPr id="18" name="Group 18"/>
            <p:cNvGrpSpPr/>
            <p:nvPr/>
          </p:nvGrpSpPr>
          <p:grpSpPr>
            <a:xfrm>
              <a:off x="1439565" y="0"/>
              <a:ext cx="531406" cy="53140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21906" y="0"/>
              <a:ext cx="531406" cy="531406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531406" cy="531406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2389228" y="7898468"/>
            <a:ext cx="1478228" cy="398555"/>
            <a:chOff x="0" y="0"/>
            <a:chExt cx="1970971" cy="531406"/>
          </a:xfrm>
        </p:grpSpPr>
        <p:grpSp>
          <p:nvGrpSpPr>
            <p:cNvPr id="28" name="Group 28"/>
            <p:cNvGrpSpPr/>
            <p:nvPr/>
          </p:nvGrpSpPr>
          <p:grpSpPr>
            <a:xfrm>
              <a:off x="1439565" y="0"/>
              <a:ext cx="531406" cy="531406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21906" y="0"/>
              <a:ext cx="531406" cy="53140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531406" cy="531406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40" name="Group 14">
            <a:extLst>
              <a:ext uri="{FF2B5EF4-FFF2-40B4-BE49-F238E27FC236}">
                <a16:creationId xmlns:a16="http://schemas.microsoft.com/office/drawing/2014/main" id="{637AB5D8-9AB8-D6F1-B92D-2D179C78382A}"/>
              </a:ext>
            </a:extLst>
          </p:cNvPr>
          <p:cNvGrpSpPr/>
          <p:nvPr/>
        </p:nvGrpSpPr>
        <p:grpSpPr>
          <a:xfrm>
            <a:off x="1575332" y="1644640"/>
            <a:ext cx="7217209" cy="977937"/>
            <a:chOff x="0" y="-27556"/>
            <a:chExt cx="1900829" cy="257563"/>
          </a:xfrm>
        </p:grpSpPr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0F3CFE4-F96C-57AA-ABCB-24996104AFE6}"/>
                </a:ext>
              </a:extLst>
            </p:cNvPr>
            <p:cNvSpPr/>
            <p:nvPr/>
          </p:nvSpPr>
          <p:spPr>
            <a:xfrm>
              <a:off x="0" y="0"/>
              <a:ext cx="1900829" cy="209938"/>
            </a:xfrm>
            <a:custGeom>
              <a:avLst/>
              <a:gdLst/>
              <a:ahLst/>
              <a:cxnLst/>
              <a:rect l="l" t="t" r="r" b="b"/>
              <a:pathLst>
                <a:path w="1900829" h="209938">
                  <a:moveTo>
                    <a:pt x="203200" y="0"/>
                  </a:moveTo>
                  <a:lnTo>
                    <a:pt x="1900829" y="0"/>
                  </a:lnTo>
                  <a:lnTo>
                    <a:pt x="1697629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C341E9E2-F5FF-980C-A41B-500F1024F66C}"/>
                </a:ext>
              </a:extLst>
            </p:cNvPr>
            <p:cNvSpPr txBox="1"/>
            <p:nvPr/>
          </p:nvSpPr>
          <p:spPr>
            <a:xfrm>
              <a:off x="101600" y="-27556"/>
              <a:ext cx="1697629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800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Napredni </a:t>
              </a:r>
              <a:r>
                <a:rPr lang="en-US" sz="2800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operativni</a:t>
              </a:r>
              <a:r>
                <a:rPr lang="en-US" sz="2800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800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sistemi</a:t>
              </a:r>
              <a:endParaRPr lang="en-US" sz="2800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937A68F-1294-0122-2C03-E56A11778D17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548" y="1754935"/>
            <a:ext cx="682716" cy="663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37523" y="1028700"/>
            <a:ext cx="9053243" cy="8229600"/>
            <a:chOff x="0" y="0"/>
            <a:chExt cx="2384393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4393" cy="2167467"/>
            </a:xfrm>
            <a:custGeom>
              <a:avLst/>
              <a:gdLst/>
              <a:ahLst/>
              <a:cxnLst/>
              <a:rect l="l" t="t" r="r" b="b"/>
              <a:pathLst>
                <a:path w="2384393" h="2167467">
                  <a:moveTo>
                    <a:pt x="0" y="0"/>
                  </a:moveTo>
                  <a:lnTo>
                    <a:pt x="2384393" y="0"/>
                  </a:lnTo>
                  <a:lnTo>
                    <a:pt x="2384393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384393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2057400"/>
            <a:ext cx="7216859" cy="6600145"/>
          </a:xfrm>
          <a:custGeom>
            <a:avLst/>
            <a:gdLst/>
            <a:ahLst/>
            <a:cxnLst/>
            <a:rect l="l" t="t" r="r" b="b"/>
            <a:pathLst>
              <a:path w="7216859" h="6600145">
                <a:moveTo>
                  <a:pt x="0" y="0"/>
                </a:moveTo>
                <a:lnTo>
                  <a:pt x="7216859" y="0"/>
                </a:lnTo>
                <a:lnTo>
                  <a:pt x="7216859" y="6600145"/>
                </a:lnTo>
                <a:lnTo>
                  <a:pt x="0" y="6600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 flipV="1">
            <a:off x="8137523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868" y="1439987"/>
            <a:ext cx="588374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0"/>
              </a:lnSpc>
            </a:pP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Cilj</a:t>
            </a: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projekta</a:t>
            </a:r>
            <a:endParaRPr lang="en-US" sz="6000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715317" y="3008805"/>
            <a:ext cx="5292030" cy="797110"/>
            <a:chOff x="0" y="0"/>
            <a:chExt cx="1393786" cy="2099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3786" cy="209938"/>
            </a:xfrm>
            <a:custGeom>
              <a:avLst/>
              <a:gdLst/>
              <a:ahLst/>
              <a:cxnLst/>
              <a:rect l="l" t="t" r="r" b="b"/>
              <a:pathLst>
                <a:path w="1393786" h="209938">
                  <a:moveTo>
                    <a:pt x="203200" y="0"/>
                  </a:moveTo>
                  <a:lnTo>
                    <a:pt x="1393786" y="0"/>
                  </a:lnTo>
                  <a:lnTo>
                    <a:pt x="1190586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47625"/>
              <a:ext cx="1190586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Glavni </a:t>
              </a: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zadatak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6400" y="4153917"/>
            <a:ext cx="5961585" cy="62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Analiza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implementacija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IoT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operativnih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resursima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ograničenim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okruženjima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16" name="Group 12">
            <a:extLst>
              <a:ext uri="{FF2B5EF4-FFF2-40B4-BE49-F238E27FC236}">
                <a16:creationId xmlns:a16="http://schemas.microsoft.com/office/drawing/2014/main" id="{7AFEAF68-6C08-8F62-C312-D5EB9EFDB740}"/>
              </a:ext>
            </a:extLst>
          </p:cNvPr>
          <p:cNvGrpSpPr/>
          <p:nvPr/>
        </p:nvGrpSpPr>
        <p:grpSpPr>
          <a:xfrm>
            <a:off x="1754234" y="5122501"/>
            <a:ext cx="5292030" cy="797110"/>
            <a:chOff x="0" y="0"/>
            <a:chExt cx="1393786" cy="209938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8D351166-1434-FF09-8B41-10D377189E25}"/>
                </a:ext>
              </a:extLst>
            </p:cNvPr>
            <p:cNvSpPr/>
            <p:nvPr/>
          </p:nvSpPr>
          <p:spPr>
            <a:xfrm>
              <a:off x="0" y="0"/>
              <a:ext cx="1393786" cy="209938"/>
            </a:xfrm>
            <a:custGeom>
              <a:avLst/>
              <a:gdLst/>
              <a:ahLst/>
              <a:cxnLst/>
              <a:rect l="l" t="t" r="r" b="b"/>
              <a:pathLst>
                <a:path w="1393786" h="209938">
                  <a:moveTo>
                    <a:pt x="203200" y="0"/>
                  </a:moveTo>
                  <a:lnTo>
                    <a:pt x="1393786" y="0"/>
                  </a:lnTo>
                  <a:lnTo>
                    <a:pt x="1190586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B9D77AB6-1319-1267-7B13-A97D0C5EB2E0}"/>
                </a:ext>
              </a:extLst>
            </p:cNvPr>
            <p:cNvSpPr txBox="1"/>
            <p:nvPr/>
          </p:nvSpPr>
          <p:spPr>
            <a:xfrm>
              <a:off x="101600" y="-47625"/>
              <a:ext cx="1190586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Fokusi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projekta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</a:p>
          </p:txBody>
        </p:sp>
      </p:grpSp>
      <p:sp>
        <p:nvSpPr>
          <p:cNvPr id="19" name="TextBox 15">
            <a:extLst>
              <a:ext uri="{FF2B5EF4-FFF2-40B4-BE49-F238E27FC236}">
                <a16:creationId xmlns:a16="http://schemas.microsoft.com/office/drawing/2014/main" id="{9C3A9017-C8C3-C8E5-5CE4-9511DE763563}"/>
              </a:ext>
            </a:extLst>
          </p:cNvPr>
          <p:cNvSpPr txBox="1"/>
          <p:nvPr/>
        </p:nvSpPr>
        <p:spPr>
          <a:xfrm>
            <a:off x="1715317" y="6267613"/>
            <a:ext cx="5961585" cy="22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Razumevanje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arhitekture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RTOS-a (Zephyr)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robotickih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radnih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okvira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(ROS2).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Razvoj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dve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demo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aplikacije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senzor-aktuator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logika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Testiranje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koda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korišćenjem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softverske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emulacije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Izolacija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razvojnog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okruženja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putem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Docker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kontejnera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9121777" cy="8229600"/>
            <a:chOff x="0" y="0"/>
            <a:chExt cx="12162370" cy="109728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070990" cy="10972800"/>
              <a:chOff x="0" y="0"/>
              <a:chExt cx="2384393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84393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384393" h="2167467">
                    <a:moveTo>
                      <a:pt x="0" y="0"/>
                    </a:moveTo>
                    <a:lnTo>
                      <a:pt x="2384393" y="0"/>
                    </a:lnTo>
                    <a:lnTo>
                      <a:pt x="2384393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004A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384393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6965253" y="0"/>
              <a:ext cx="5197117" cy="5486400"/>
            </a:xfrm>
            <a:custGeom>
              <a:avLst/>
              <a:gdLst/>
              <a:ahLst/>
              <a:cxnLst/>
              <a:rect l="l" t="t" r="r" b="b"/>
              <a:pathLst>
                <a:path w="5197117" h="5486400">
                  <a:moveTo>
                    <a:pt x="0" y="0"/>
                  </a:moveTo>
                  <a:lnTo>
                    <a:pt x="5197117" y="0"/>
                  </a:lnTo>
                  <a:lnTo>
                    <a:pt x="519711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486400"/>
              <a:ext cx="5197117" cy="5486400"/>
            </a:xfrm>
            <a:custGeom>
              <a:avLst/>
              <a:gdLst/>
              <a:ahLst/>
              <a:cxnLst/>
              <a:rect l="l" t="t" r="r" b="b"/>
              <a:pathLst>
                <a:path w="5197117" h="5486400">
                  <a:moveTo>
                    <a:pt x="5197117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5197117" y="0"/>
                  </a:lnTo>
                  <a:lnTo>
                    <a:pt x="5197117" y="548640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21379" y="1322421"/>
            <a:ext cx="6361413" cy="4664210"/>
            <a:chOff x="0" y="171451"/>
            <a:chExt cx="8481885" cy="6218946"/>
          </a:xfrm>
        </p:grpSpPr>
        <p:sp>
          <p:nvSpPr>
            <p:cNvPr id="12" name="TextBox 12"/>
            <p:cNvSpPr txBox="1"/>
            <p:nvPr/>
          </p:nvSpPr>
          <p:spPr>
            <a:xfrm>
              <a:off x="370333" y="171451"/>
              <a:ext cx="7845000" cy="32316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0"/>
                </a:lnSpc>
              </a:pP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Real-Time </a:t>
              </a:r>
              <a:r>
                <a:rPr lang="en-US" sz="6000" spc="-437" dirty="0" err="1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Operativni</a:t>
              </a: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 </a:t>
              </a:r>
              <a:r>
                <a:rPr lang="en-US" sz="6000" spc="-437" dirty="0" err="1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Sistemi</a:t>
              </a: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 (RTOS)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3335825"/>
              <a:ext cx="8481885" cy="1303915"/>
              <a:chOff x="0" y="-342024"/>
              <a:chExt cx="1675434" cy="25756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-294399"/>
                <a:ext cx="1675434" cy="209938"/>
              </a:xfrm>
              <a:custGeom>
                <a:avLst/>
                <a:gdLst/>
                <a:ahLst/>
                <a:cxnLst/>
                <a:rect l="l" t="t" r="r" b="b"/>
                <a:pathLst>
                  <a:path w="1675434" h="209938">
                    <a:moveTo>
                      <a:pt x="203200" y="0"/>
                    </a:moveTo>
                    <a:lnTo>
                      <a:pt x="1675434" y="0"/>
                    </a:lnTo>
                    <a:lnTo>
                      <a:pt x="1472234" y="209938"/>
                    </a:lnTo>
                    <a:lnTo>
                      <a:pt x="0" y="20993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1600" y="-342024"/>
                <a:ext cx="1472234" cy="2575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 dirty="0">
                    <a:solidFill>
                      <a:srgbClr val="FEFEFE"/>
                    </a:solidFill>
                    <a:latin typeface="Inter"/>
                    <a:ea typeface="Inter"/>
                    <a:cs typeface="Inter"/>
                    <a:sym typeface="Inter"/>
                  </a:rPr>
                  <a:t>Koncept: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5128684"/>
              <a:ext cx="7948780" cy="1261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Za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razliku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od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standardnih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OS,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ispravnost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RTOS-a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zavisi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ne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samo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od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logičkog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rezultata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već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i od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vremena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u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kojem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je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rezultat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isporučen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07296" y="1292282"/>
            <a:ext cx="7702436" cy="7702436"/>
          </a:xfrm>
          <a:custGeom>
            <a:avLst/>
            <a:gdLst/>
            <a:ahLst/>
            <a:cxnLst/>
            <a:rect l="l" t="t" r="r" b="b"/>
            <a:pathLst>
              <a:path w="7702436" h="7702436">
                <a:moveTo>
                  <a:pt x="0" y="0"/>
                </a:moveTo>
                <a:lnTo>
                  <a:pt x="7702437" y="0"/>
                </a:lnTo>
                <a:lnTo>
                  <a:pt x="7702437" y="7702436"/>
                </a:lnTo>
                <a:lnTo>
                  <a:pt x="0" y="7702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BFA87B20-CECC-19D4-3E5E-240B05B510E2}"/>
              </a:ext>
            </a:extLst>
          </p:cNvPr>
          <p:cNvSpPr/>
          <p:nvPr/>
        </p:nvSpPr>
        <p:spPr>
          <a:xfrm>
            <a:off x="10421379" y="6238726"/>
            <a:ext cx="6361413" cy="797110"/>
          </a:xfrm>
          <a:custGeom>
            <a:avLst/>
            <a:gdLst/>
            <a:ahLst/>
            <a:cxnLst/>
            <a:rect l="l" t="t" r="r" b="b"/>
            <a:pathLst>
              <a:path w="1675434" h="209938">
                <a:moveTo>
                  <a:pt x="203200" y="0"/>
                </a:moveTo>
                <a:lnTo>
                  <a:pt x="1675434" y="0"/>
                </a:lnTo>
                <a:lnTo>
                  <a:pt x="1472234" y="209938"/>
                </a:lnTo>
                <a:lnTo>
                  <a:pt x="0" y="209938"/>
                </a:lnTo>
                <a:lnTo>
                  <a:pt x="203200" y="0"/>
                </a:lnTo>
                <a:close/>
              </a:path>
            </a:pathLst>
          </a:custGeom>
          <a:solidFill>
            <a:srgbClr val="004AAD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8C05B8F5-DC2A-38FE-D113-A478D769D235}"/>
              </a:ext>
            </a:extLst>
          </p:cNvPr>
          <p:cNvSpPr txBox="1"/>
          <p:nvPr/>
        </p:nvSpPr>
        <p:spPr>
          <a:xfrm>
            <a:off x="10807141" y="6057900"/>
            <a:ext cx="5589888" cy="9779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39"/>
              </a:lnSpc>
            </a:pPr>
            <a:r>
              <a:rPr lang="en-US" sz="2599" dirty="0" err="1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Karakteristike</a:t>
            </a:r>
            <a:r>
              <a:rPr lang="en-US" sz="2599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7A46A24B-DA4D-8C52-E394-03E0D3297799}"/>
              </a:ext>
            </a:extLst>
          </p:cNvPr>
          <p:cNvSpPr txBox="1"/>
          <p:nvPr/>
        </p:nvSpPr>
        <p:spPr>
          <a:xfrm>
            <a:off x="10421379" y="7402547"/>
            <a:ext cx="5961584" cy="1587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Predvidljivost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ispunjavanju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vremenskih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ograničenja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(deadlines).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Efikasno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upravljanje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periodičnim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aperiodičnim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(event-driven)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taskovima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Minimalno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zauzeće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memorije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procesora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162065" cy="83058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94807" y="4000500"/>
            <a:ext cx="6361413" cy="977937"/>
            <a:chOff x="0" y="-47625"/>
            <a:chExt cx="1675434" cy="2575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Šta je Zephyr?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90455" y="1655271"/>
            <a:ext cx="761580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Zephyr OS –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Arhitektura</a:t>
            </a: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i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komponente</a:t>
            </a:r>
            <a:endParaRPr lang="en-US" sz="6000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28473" y="5219700"/>
            <a:ext cx="6848727" cy="3190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Open-source RTOS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dizajniran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za IoT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uređaje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vrlo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malo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memorije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(&lt; 8KB Flash).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Komponente</a:t>
            </a:r>
            <a:r>
              <a:rPr lang="en-US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18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podrška</a:t>
            </a:r>
            <a:r>
              <a:rPr lang="en-US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Široka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podrška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600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različitih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mikrokontrolerskih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ploča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Ugrađena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konektivnost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IPv4/IPv6, CoAP, MQTT, Bluetooth LE.</a:t>
            </a:r>
          </a:p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Konfigurabilnost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Devicetree za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odvajanje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hardvera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od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aplikativnog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koda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28700" y="3895232"/>
            <a:ext cx="11274767" cy="0"/>
          </a:xfrm>
          <a:prstGeom prst="line">
            <a:avLst/>
          </a:prstGeom>
          <a:ln w="762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3998AB2-D7AD-9537-47FA-D2090DF9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3168" r="1008" b="2281"/>
          <a:stretch>
            <a:fillRect/>
          </a:stretch>
        </p:blipFill>
        <p:spPr>
          <a:xfrm>
            <a:off x="8624745" y="1104900"/>
            <a:ext cx="8520255" cy="8117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126DC9B-53C4-E45A-C81D-A8455DDF2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931" y="6134100"/>
            <a:ext cx="4669872" cy="308375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75012" y="2400300"/>
            <a:ext cx="6361413" cy="797110"/>
            <a:chOff x="0" y="0"/>
            <a:chExt cx="1675434" cy="2099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Implementacija: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732387" y="1257300"/>
            <a:ext cx="115062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Zephyr Demo –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Senzor</a:t>
            </a: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i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Aktuator</a:t>
            </a:r>
            <a:endParaRPr lang="en-US" sz="6000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1600" y="3451226"/>
            <a:ext cx="15392400" cy="2869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Devicetree overlay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definiše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virtuelni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ADC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kanal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(compatible = "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zephyr,adc-emul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")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Senzor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thread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čita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podatke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kroz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pravi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Zephyr ADC driver API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adc_channel_setup_dt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adc_read_dt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adc_raw_to_millivolts_dt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Dva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odvojena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k_thread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-a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senzor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aktuator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sinhronizovana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semafora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k_sem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i mutex-a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k_mutex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za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deljeno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stanje</a:t>
            </a: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Aktuator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upravlja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GPIO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diodom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gpio_pin_set_dt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()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pri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prelasku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praga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definisanog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kroz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Kconfig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(CONFIG_IOT_TEMP_THRESHOLD_C)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Shell subsystem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omogućava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runtime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komande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iot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status,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iot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set_threshold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Sopstveni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Zephyr driver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fan_actuator.c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/.h)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uvodi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apstrakciju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aktuatora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kroz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Zephyr device model (DEVICE_DT_INST_DEFINE,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init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()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funkcija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automatski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pozvana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boot-u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sopstvenog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devicetree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bindinga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vendor,fan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-actuator")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Ztest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jedinični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testovi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(west twister)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validiraju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logiku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odlučivanja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aktuacije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nezavisno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od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hardverskog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sloja</a:t>
            </a: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4DEA975F-67A4-9EFD-4177-2725AA301B9B}"/>
              </a:ext>
            </a:extLst>
          </p:cNvPr>
          <p:cNvGrpSpPr/>
          <p:nvPr/>
        </p:nvGrpSpPr>
        <p:grpSpPr>
          <a:xfrm>
            <a:off x="1375012" y="6849516"/>
            <a:ext cx="6361413" cy="797110"/>
            <a:chOff x="0" y="0"/>
            <a:chExt cx="1675434" cy="209938"/>
          </a:xfrm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4C6ADA34-679B-28D1-AC96-3775B098AD36}"/>
                </a:ext>
              </a:extLst>
            </p:cNvPr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2">
              <a:extLst>
                <a:ext uri="{FF2B5EF4-FFF2-40B4-BE49-F238E27FC236}">
                  <a16:creationId xmlns:a16="http://schemas.microsoft.com/office/drawing/2014/main" id="{C7219561-6235-B15D-09FE-F91562889B27}"/>
                </a:ext>
              </a:extLst>
            </p:cNvPr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Okruženje:</a:t>
              </a:r>
            </a:p>
          </p:txBody>
        </p:sp>
      </p:grpSp>
      <p:sp>
        <p:nvSpPr>
          <p:cNvPr id="21" name="TextBox 15">
            <a:extLst>
              <a:ext uri="{FF2B5EF4-FFF2-40B4-BE49-F238E27FC236}">
                <a16:creationId xmlns:a16="http://schemas.microsoft.com/office/drawing/2014/main" id="{1642D2E3-9321-3844-5366-ECAE132E50E6}"/>
              </a:ext>
            </a:extLst>
          </p:cNvPr>
          <p:cNvSpPr txBox="1"/>
          <p:nvPr/>
        </p:nvSpPr>
        <p:spPr>
          <a:xfrm>
            <a:off x="1371601" y="7900442"/>
            <a:ext cx="11073330" cy="625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Aplikacija je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uspešno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kompajlirana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pokrenuta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korišćenjem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Zephyr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native_sim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softverskog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emulatora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FCF7-9FB0-4653-8417-F0E1B5E3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14B8A535-9B78-2441-F5B7-1BA68D4B9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2" y="1028700"/>
            <a:ext cx="16230600" cy="8266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F42D4A-F579-6AD7-69A3-88EEC0793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62" y="1028700"/>
            <a:ext cx="10927076" cy="8083254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6399734F-6B09-F193-1575-F8D323C31756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E2AD63-A508-3691-E42B-2C1152117639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8C6063-468E-C67F-6AA8-D28E20388A86}"/>
                </a:ext>
              </a:extLst>
            </p:cNvPr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64C7B25-1C23-32F4-742B-CB7750BFD5A9}"/>
              </a:ext>
            </a:extLst>
          </p:cNvPr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CD30777-27F3-BD58-C727-405F9E90BAF0}"/>
              </a:ext>
            </a:extLst>
          </p:cNvPr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E814B0A-8B1D-E1EF-CA4D-515902AE044E}"/>
              </a:ext>
            </a:extLst>
          </p:cNvPr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45F4F6D-BC30-E9B4-B6B7-C8C878D201F2}"/>
                </a:ext>
              </a:extLst>
            </p:cNvPr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391902B-E952-088E-EF5C-2219AC05D104}"/>
                </a:ext>
              </a:extLst>
            </p:cNvPr>
            <p:cNvSpPr txBox="1"/>
            <p:nvPr/>
          </p:nvSpPr>
          <p:spPr>
            <a:xfrm>
              <a:off x="0" y="-66675"/>
              <a:ext cx="4613345" cy="2533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710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0B844-CD43-5D49-614F-368CFCF6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D4408D-95FD-3E28-171F-6BA4F219ACDB}"/>
              </a:ext>
            </a:extLst>
          </p:cNvPr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0E940D-5AE0-A8B2-0EF8-A01BFB27B16F}"/>
                </a:ext>
              </a:extLst>
            </p:cNvPr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0CCB92-DA7D-13E2-4643-E47DB55ED458}"/>
                </a:ext>
              </a:extLst>
            </p:cNvPr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0E2F5D3-8921-B2F8-E86A-DDFA26FBA1AA}"/>
              </a:ext>
            </a:extLst>
          </p:cNvPr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D7854D4-FAE9-A428-34FF-A6A04F62FBBE}"/>
              </a:ext>
            </a:extLst>
          </p:cNvPr>
          <p:cNvGrpSpPr/>
          <p:nvPr/>
        </p:nvGrpSpPr>
        <p:grpSpPr>
          <a:xfrm>
            <a:off x="1375012" y="3435289"/>
            <a:ext cx="6361413" cy="797110"/>
            <a:chOff x="0" y="0"/>
            <a:chExt cx="1675434" cy="20993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3381028-D0D2-D918-7299-157FA05C7BF2}"/>
                </a:ext>
              </a:extLst>
            </p:cNvPr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429D34C-3B9A-F3DE-EB5D-05394FA00CDF}"/>
                </a:ext>
              </a:extLst>
            </p:cNvPr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Custom Driver (</a:t>
              </a: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fan_actuator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):</a:t>
              </a:r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C0724C93-B72A-5B87-9010-48E88AE25F55}"/>
              </a:ext>
            </a:extLst>
          </p:cNvPr>
          <p:cNvSpPr txBox="1"/>
          <p:nvPr/>
        </p:nvSpPr>
        <p:spPr>
          <a:xfrm>
            <a:off x="3390900" y="1790700"/>
            <a:ext cx="115062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Zephyr -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Sopstveni</a:t>
            </a: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driver i </a:t>
            </a:r>
            <a:r>
              <a:rPr lang="en-US" sz="60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testiranje</a:t>
            </a:r>
            <a:endParaRPr lang="en-US" sz="6000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1BEDE8B-2252-78C7-7FFA-7CB03012EEE9}"/>
              </a:ext>
            </a:extLst>
          </p:cNvPr>
          <p:cNvSpPr txBox="1"/>
          <p:nvPr/>
        </p:nvSpPr>
        <p:spPr>
          <a:xfrm>
            <a:off x="1371600" y="4486215"/>
            <a:ext cx="8153400" cy="1266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Devicetree binding: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vendor,fan-actuator.yaml</a:t>
            </a: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DEVICE_DT_INST_DEFINE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registruje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driver u Zephyr device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modelu</a:t>
            </a: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API: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fan_actuator_on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/off/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get_state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() -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aplikacija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ne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za GPIO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gpio_emul_output_get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()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potvrđuje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stvarno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stanje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pina (readback)</a:t>
            </a: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2C38302D-046B-10E1-EE16-D128F2F06817}"/>
              </a:ext>
            </a:extLst>
          </p:cNvPr>
          <p:cNvGrpSpPr/>
          <p:nvPr/>
        </p:nvGrpSpPr>
        <p:grpSpPr>
          <a:xfrm>
            <a:off x="8461611" y="6423812"/>
            <a:ext cx="6361413" cy="797110"/>
            <a:chOff x="0" y="0"/>
            <a:chExt cx="1675434" cy="209938"/>
          </a:xfrm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166F914-5DB9-4897-E1B2-C0995F2B8AE5}"/>
                </a:ext>
              </a:extLst>
            </p:cNvPr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2">
              <a:extLst>
                <a:ext uri="{FF2B5EF4-FFF2-40B4-BE49-F238E27FC236}">
                  <a16:creationId xmlns:a16="http://schemas.microsoft.com/office/drawing/2014/main" id="{BAC47CCE-46D6-E7FD-D1E5-62FEBC6D6D22}"/>
                </a:ext>
              </a:extLst>
            </p:cNvPr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Testiranje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 (</a:t>
              </a: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ztest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):</a:t>
              </a:r>
            </a:p>
          </p:txBody>
        </p:sp>
      </p:grpSp>
      <p:sp>
        <p:nvSpPr>
          <p:cNvPr id="21" name="TextBox 15">
            <a:extLst>
              <a:ext uri="{FF2B5EF4-FFF2-40B4-BE49-F238E27FC236}">
                <a16:creationId xmlns:a16="http://schemas.microsoft.com/office/drawing/2014/main" id="{F531AC04-22FC-A238-50A7-53F50E733557}"/>
              </a:ext>
            </a:extLst>
          </p:cNvPr>
          <p:cNvSpPr txBox="1"/>
          <p:nvPr/>
        </p:nvSpPr>
        <p:spPr>
          <a:xfrm>
            <a:off x="8458200" y="7474738"/>
            <a:ext cx="8153399" cy="946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west twister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pokreće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jedinične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testove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nad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logikom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odlučivanja</a:t>
            </a:r>
            <a:endParaRPr lang="en-US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3 test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slučaja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iznad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praga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ispod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praga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granici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praga</a:t>
            </a:r>
            <a:endParaRPr lang="en-US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Testovi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rade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nezavisno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od ADC/GPIO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hardverskog</a:t>
            </a:r>
            <a:r>
              <a:rPr lang="en-US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sloja</a:t>
            </a:r>
            <a:endParaRPr lang="en-US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9664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F6AE3-EB4F-4332-CCD1-BDA21374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8CD45785-7989-93BF-B3B5-825D31257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2" y="992096"/>
            <a:ext cx="16230600" cy="8266204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D52E9EDA-63A1-F2AF-A74D-D63FD9A81BB4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BAA00BA-8761-3D73-D3B8-09F7A4E911C1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03D8A3E-E905-34CF-BD5D-AC5F735C2E4F}"/>
                </a:ext>
              </a:extLst>
            </p:cNvPr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5D73991-BF99-2A6F-00CD-34D17FDA033F}"/>
              </a:ext>
            </a:extLst>
          </p:cNvPr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3037E3-C8CD-23B8-96DD-93D5A3BBF619}"/>
              </a:ext>
            </a:extLst>
          </p:cNvPr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0E4BC54-2D34-026A-A1AA-B2C346A6F9DA}"/>
              </a:ext>
            </a:extLst>
          </p:cNvPr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38589F7-ABA9-3994-7E03-F3ABF7DFEE60}"/>
                </a:ext>
              </a:extLst>
            </p:cNvPr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A8FC45C-B1D8-0BA5-4655-B93052D818F9}"/>
                </a:ext>
              </a:extLst>
            </p:cNvPr>
            <p:cNvSpPr txBox="1"/>
            <p:nvPr/>
          </p:nvSpPr>
          <p:spPr>
            <a:xfrm>
              <a:off x="0" y="-66675"/>
              <a:ext cx="4613345" cy="2533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7EF1B22-B790-6382-05E9-78B5A04A1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875" y="2134633"/>
            <a:ext cx="14382250" cy="60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4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703A-5F31-3EBF-0E25-03C41463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F77E13B4-2B99-8F1C-566E-F9F38A8891BE}"/>
              </a:ext>
            </a:extLst>
          </p:cNvPr>
          <p:cNvSpPr txBox="1"/>
          <p:nvPr/>
        </p:nvSpPr>
        <p:spPr>
          <a:xfrm>
            <a:off x="3390900" y="48956"/>
            <a:ext cx="11506200" cy="72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0"/>
              </a:lnSpc>
            </a:pPr>
            <a:r>
              <a:rPr lang="en-US" sz="48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Zephyr – </a:t>
            </a:r>
            <a:r>
              <a:rPr lang="en-US" sz="48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Dijagram</a:t>
            </a:r>
            <a:r>
              <a:rPr lang="en-US" sz="48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4800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arhitekture</a:t>
            </a:r>
            <a:endParaRPr lang="en-US" sz="4800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877EF-B333-963A-ABC0-0975E0825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9"/>
          <a:stretch>
            <a:fillRect/>
          </a:stretch>
        </p:blipFill>
        <p:spPr>
          <a:xfrm>
            <a:off x="2074031" y="809278"/>
            <a:ext cx="14139937" cy="94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4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0F326B0-5FAB-0BFF-54AF-75F4411CB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462" y="1206921"/>
            <a:ext cx="7620000" cy="7620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67759" y="1028700"/>
            <a:ext cx="7523006" cy="8229600"/>
            <a:chOff x="0" y="0"/>
            <a:chExt cx="198136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1368" cy="2167467"/>
            </a:xfrm>
            <a:custGeom>
              <a:avLst/>
              <a:gdLst/>
              <a:ahLst/>
              <a:cxnLst/>
              <a:rect l="l" t="t" r="r" b="b"/>
              <a:pathLst>
                <a:path w="1981368" h="2167467">
                  <a:moveTo>
                    <a:pt x="0" y="0"/>
                  </a:moveTo>
                  <a:lnTo>
                    <a:pt x="1981368" y="0"/>
                  </a:lnTo>
                  <a:lnTo>
                    <a:pt x="1981368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981368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 flipV="1">
            <a:off x="9667759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537277" y="3314700"/>
            <a:ext cx="7606723" cy="797110"/>
            <a:chOff x="0" y="0"/>
            <a:chExt cx="2003417" cy="2099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3417" cy="209938"/>
            </a:xfrm>
            <a:custGeom>
              <a:avLst/>
              <a:gdLst/>
              <a:ahLst/>
              <a:cxnLst/>
              <a:rect l="l" t="t" r="r" b="b"/>
              <a:pathLst>
                <a:path w="2003417" h="209938">
                  <a:moveTo>
                    <a:pt x="203200" y="0"/>
                  </a:moveTo>
                  <a:lnTo>
                    <a:pt x="2003417" y="0"/>
                  </a:lnTo>
                  <a:lnTo>
                    <a:pt x="1800217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47625"/>
              <a:ext cx="1800217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Šta je ROS2?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4197" y="1289124"/>
            <a:ext cx="938566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ROS2</a:t>
            </a:r>
          </a:p>
          <a:p>
            <a:pPr algn="l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(Robot Operating System)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7277" y="4544127"/>
            <a:ext cx="7606723" cy="62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Napredni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radni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okvir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(framework)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instaliran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Linuxa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dizajniran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za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robotiku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kompleksne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IoT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sisteme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DF039307-3799-EDAD-8DF7-9C28462ADE4B}"/>
              </a:ext>
            </a:extLst>
          </p:cNvPr>
          <p:cNvGrpSpPr/>
          <p:nvPr/>
        </p:nvGrpSpPr>
        <p:grpSpPr>
          <a:xfrm>
            <a:off x="1537277" y="5526987"/>
            <a:ext cx="7606723" cy="797110"/>
            <a:chOff x="0" y="0"/>
            <a:chExt cx="2003417" cy="209938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6716FE99-16D0-4FF5-BA8D-EF739C27F8C0}"/>
                </a:ext>
              </a:extLst>
            </p:cNvPr>
            <p:cNvSpPr/>
            <p:nvPr/>
          </p:nvSpPr>
          <p:spPr>
            <a:xfrm>
              <a:off x="0" y="0"/>
              <a:ext cx="2003417" cy="209938"/>
            </a:xfrm>
            <a:custGeom>
              <a:avLst/>
              <a:gdLst/>
              <a:ahLst/>
              <a:cxnLst/>
              <a:rect l="l" t="t" r="r" b="b"/>
              <a:pathLst>
                <a:path w="2003417" h="209938">
                  <a:moveTo>
                    <a:pt x="203200" y="0"/>
                  </a:moveTo>
                  <a:lnTo>
                    <a:pt x="2003417" y="0"/>
                  </a:lnTo>
                  <a:lnTo>
                    <a:pt x="1800217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0E8D3FF0-9288-2DE4-F402-08288C9EB4B1}"/>
                </a:ext>
              </a:extLst>
            </p:cNvPr>
            <p:cNvSpPr txBox="1"/>
            <p:nvPr/>
          </p:nvSpPr>
          <p:spPr>
            <a:xfrm>
              <a:off x="101600" y="-47625"/>
              <a:ext cx="1800217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Arhitektura</a:t>
              </a: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</a:p>
          </p:txBody>
        </p:sp>
      </p:grpSp>
      <p:sp>
        <p:nvSpPr>
          <p:cNvPr id="19" name="TextBox 15">
            <a:extLst>
              <a:ext uri="{FF2B5EF4-FFF2-40B4-BE49-F238E27FC236}">
                <a16:creationId xmlns:a16="http://schemas.microsoft.com/office/drawing/2014/main" id="{56E2E68B-541F-6499-FF3F-5B3D7BAC2EBC}"/>
              </a:ext>
            </a:extLst>
          </p:cNvPr>
          <p:cNvSpPr txBox="1"/>
          <p:nvPr/>
        </p:nvSpPr>
        <p:spPr>
          <a:xfrm>
            <a:off x="1537277" y="6756414"/>
            <a:ext cx="7606723" cy="1587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Čvorovi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(Nodes):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Izolovane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celine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koda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koje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vrše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specifične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zadatke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npr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čvor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senzora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čvor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motora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Teme (Topics):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Imenovani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kanali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kojih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poruke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prenose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Komunikacija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Decentralizovani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"Publisher - Subscriber"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Izdavač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Pretplatnik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8EE6-F83C-622A-F521-DD1714E2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651AF9-1A5D-5BD5-F5DB-B62EFC3DC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546" y="2522812"/>
            <a:ext cx="9964082" cy="4326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B47D4-1E6D-BAF3-B4BD-A8D748E0B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"/>
          <a:stretch>
            <a:fillRect/>
          </a:stretch>
        </p:blipFill>
        <p:spPr>
          <a:xfrm>
            <a:off x="7234546" y="6816171"/>
            <a:ext cx="9956219" cy="244212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5571F409-0EE1-953B-550B-DF917D9D132F}"/>
              </a:ext>
            </a:extLst>
          </p:cNvPr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F1FC6C-0611-FB50-3DF9-A60A9E043309}"/>
                </a:ext>
              </a:extLst>
            </p:cNvPr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7B30EA6-789E-4CD1-789E-165CA1628232}"/>
                </a:ext>
              </a:extLst>
            </p:cNvPr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1E26B67-DE3B-3D92-F3B2-5D0E8D76A680}"/>
              </a:ext>
            </a:extLst>
          </p:cNvPr>
          <p:cNvGrpSpPr/>
          <p:nvPr/>
        </p:nvGrpSpPr>
        <p:grpSpPr>
          <a:xfrm>
            <a:off x="1097235" y="2522812"/>
            <a:ext cx="6068774" cy="797110"/>
            <a:chOff x="0" y="0"/>
            <a:chExt cx="1675434" cy="20993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E3B791E-5C93-B435-3BC4-0BAE78F4E422}"/>
                </a:ext>
              </a:extLst>
            </p:cNvPr>
            <p:cNvSpPr/>
            <p:nvPr/>
          </p:nvSpPr>
          <p:spPr>
            <a:xfrm>
              <a:off x="0" y="0"/>
              <a:ext cx="1675434" cy="209938"/>
            </a:xfrm>
            <a:custGeom>
              <a:avLst/>
              <a:gdLst/>
              <a:ahLst/>
              <a:cxnLst/>
              <a:rect l="l" t="t" r="r" b="b"/>
              <a:pathLst>
                <a:path w="1675434" h="209938">
                  <a:moveTo>
                    <a:pt x="203200" y="0"/>
                  </a:moveTo>
                  <a:lnTo>
                    <a:pt x="1675434" y="0"/>
                  </a:lnTo>
                  <a:lnTo>
                    <a:pt x="1472234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DE53FC-F607-89F0-F3A6-DF9D585E8FD3}"/>
                </a:ext>
              </a:extLst>
            </p:cNvPr>
            <p:cNvSpPr txBox="1"/>
            <p:nvPr/>
          </p:nvSpPr>
          <p:spPr>
            <a:xfrm>
              <a:off x="101600" y="-47625"/>
              <a:ext cx="1472234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Implementacija</a:t>
              </a:r>
              <a:endParaRPr lang="en-US" sz="2599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9F76B821-DD1F-9281-B932-6F0F36860DB6}"/>
              </a:ext>
            </a:extLst>
          </p:cNvPr>
          <p:cNvSpPr txBox="1"/>
          <p:nvPr/>
        </p:nvSpPr>
        <p:spPr>
          <a:xfrm>
            <a:off x="3238500" y="1285194"/>
            <a:ext cx="118110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0"/>
              </a:lnSpc>
            </a:pPr>
            <a:r>
              <a: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ROS2 Demo – Implementacija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80019D-C66B-C474-7535-575B31AA4B04}"/>
              </a:ext>
            </a:extLst>
          </p:cNvPr>
          <p:cNvSpPr txBox="1"/>
          <p:nvPr/>
        </p:nvSpPr>
        <p:spPr>
          <a:xfrm>
            <a:off x="1217122" y="3855208"/>
            <a:ext cx="5840377" cy="4793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ros_projekat_msgs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poseban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ament_cmake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custom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porukom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(SensorData.msg)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servisom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SetThreshold.srv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sensor_node: publisher koji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simulira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temperaturu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random-walk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modelom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(ne random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broj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svaki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put,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već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postepena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promena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QoS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profila</a:t>
            </a:r>
            <a:endParaRPr lang="en-US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actuator_node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: subscriber + ROS2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servis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set_threshold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koji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omogućava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runtime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promenu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praga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bez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restarta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node-a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Oba node-a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koriste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ROS2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parametre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declare_parameter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umesto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hardkodovanih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vrednosti</a:t>
            </a:r>
            <a:endParaRPr lang="en-US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launch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fajl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(iot_demo.launch.py)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pokreće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oba node-a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parametrima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odjednom</a:t>
            </a:r>
            <a:endParaRPr lang="en-US" sz="18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1884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04B503A-54EA-F082-4FE4-1E6E178A7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087" y="2650806"/>
            <a:ext cx="4732232" cy="473223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7591540" cy="8229600"/>
            <a:chOff x="0" y="0"/>
            <a:chExt cx="10122054" cy="109728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030675" cy="10972800"/>
              <a:chOff x="0" y="0"/>
              <a:chExt cx="1981368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81368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1981368" h="2167467">
                    <a:moveTo>
                      <a:pt x="0" y="0"/>
                    </a:moveTo>
                    <a:lnTo>
                      <a:pt x="1981368" y="0"/>
                    </a:lnTo>
                    <a:lnTo>
                      <a:pt x="1981368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004A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981368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4924937" y="0"/>
              <a:ext cx="5197117" cy="5486400"/>
            </a:xfrm>
            <a:custGeom>
              <a:avLst/>
              <a:gdLst/>
              <a:ahLst/>
              <a:cxnLst/>
              <a:rect l="l" t="t" r="r" b="b"/>
              <a:pathLst>
                <a:path w="5197117" h="5486400">
                  <a:moveTo>
                    <a:pt x="0" y="0"/>
                  </a:moveTo>
                  <a:lnTo>
                    <a:pt x="5197118" y="0"/>
                  </a:lnTo>
                  <a:lnTo>
                    <a:pt x="519711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486400"/>
              <a:ext cx="5197117" cy="5486400"/>
            </a:xfrm>
            <a:custGeom>
              <a:avLst/>
              <a:gdLst/>
              <a:ahLst/>
              <a:cxnLst/>
              <a:rect l="l" t="t" r="r" b="b"/>
              <a:pathLst>
                <a:path w="5197117" h="5486400">
                  <a:moveTo>
                    <a:pt x="5197117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5197117" y="0"/>
                  </a:lnTo>
                  <a:lnTo>
                    <a:pt x="5197117" y="548640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09733" y="1562100"/>
            <a:ext cx="7606723" cy="4656098"/>
            <a:chOff x="0" y="-204287"/>
            <a:chExt cx="10142297" cy="620813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538914"/>
              <a:ext cx="10142297" cy="1303915"/>
              <a:chOff x="0" y="-536540"/>
              <a:chExt cx="2003417" cy="25756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-488916"/>
                <a:ext cx="2003417" cy="209938"/>
              </a:xfrm>
              <a:custGeom>
                <a:avLst/>
                <a:gdLst/>
                <a:ahLst/>
                <a:cxnLst/>
                <a:rect l="l" t="t" r="r" b="b"/>
                <a:pathLst>
                  <a:path w="2003417" h="209938">
                    <a:moveTo>
                      <a:pt x="203200" y="0"/>
                    </a:moveTo>
                    <a:lnTo>
                      <a:pt x="2003417" y="0"/>
                    </a:lnTo>
                    <a:lnTo>
                      <a:pt x="1800217" y="209938"/>
                    </a:lnTo>
                    <a:lnTo>
                      <a:pt x="0" y="20993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1600" y="-536540"/>
                <a:ext cx="1800217" cy="2575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pl-PL" sz="2599" dirty="0">
                    <a:solidFill>
                      <a:srgbClr val="FEFEFE"/>
                    </a:solidFill>
                    <a:latin typeface="Inter"/>
                    <a:ea typeface="Inter"/>
                    <a:cs typeface="Inter"/>
                    <a:sym typeface="Inter"/>
                  </a:rPr>
                  <a:t>Zašto Docker u ovom projektu?</a:t>
                </a:r>
                <a:endPara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70333" y="-204287"/>
              <a:ext cx="8111552" cy="215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0"/>
                </a:lnSpc>
              </a:pP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Docker </a:t>
              </a:r>
              <a:r>
                <a:rPr lang="en-US" sz="6000" spc="-437" dirty="0" err="1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kao</a:t>
              </a: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 </a:t>
              </a:r>
              <a:r>
                <a:rPr lang="en-US" sz="6000" spc="-437" dirty="0" err="1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razvojno</a:t>
              </a:r>
              <a:r>
                <a:rPr lang="en-US" sz="6000" spc="-437" dirty="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 </a:t>
              </a:r>
              <a:r>
                <a:rPr lang="en-US" sz="6000" spc="-437" dirty="0" err="1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okruženje</a:t>
              </a:r>
              <a:endParaRPr lang="en-US" sz="6000" spc="-437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314664"/>
              <a:ext cx="10142297" cy="1689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 algn="just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Kontejneri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sadrže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aplikaciju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i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sve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njene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biblioteke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ali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dele OS kernel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drugim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kontejnerima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–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lakša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i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brža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virtuelizacija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marL="285750" indent="-285750" algn="just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Eliminiše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zavisnost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od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lokalnog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hardvera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i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instalacija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na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računaru</a:t>
              </a:r>
              <a:r>
                <a:rPr lang="en-US" sz="1800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(Host OS).</a:t>
              </a:r>
            </a:p>
          </p:txBody>
        </p:sp>
      </p:grpSp>
      <p:sp>
        <p:nvSpPr>
          <p:cNvPr id="18" name="Freeform 14">
            <a:extLst>
              <a:ext uri="{FF2B5EF4-FFF2-40B4-BE49-F238E27FC236}">
                <a16:creationId xmlns:a16="http://schemas.microsoft.com/office/drawing/2014/main" id="{5C590200-AB9C-24B3-5C53-8F692A308B81}"/>
              </a:ext>
            </a:extLst>
          </p:cNvPr>
          <p:cNvSpPr/>
          <p:nvPr/>
        </p:nvSpPr>
        <p:spPr>
          <a:xfrm>
            <a:off x="9178119" y="6572078"/>
            <a:ext cx="7606723" cy="797110"/>
          </a:xfrm>
          <a:custGeom>
            <a:avLst/>
            <a:gdLst/>
            <a:ahLst/>
            <a:cxnLst/>
            <a:rect l="l" t="t" r="r" b="b"/>
            <a:pathLst>
              <a:path w="2003417" h="209938">
                <a:moveTo>
                  <a:pt x="203200" y="0"/>
                </a:moveTo>
                <a:lnTo>
                  <a:pt x="2003417" y="0"/>
                </a:lnTo>
                <a:lnTo>
                  <a:pt x="1800217" y="209938"/>
                </a:lnTo>
                <a:lnTo>
                  <a:pt x="0" y="209938"/>
                </a:lnTo>
                <a:lnTo>
                  <a:pt x="203200" y="0"/>
                </a:lnTo>
                <a:close/>
              </a:path>
            </a:pathLst>
          </a:custGeom>
          <a:solidFill>
            <a:srgbClr val="004AAD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E708C1E7-2D11-06D2-1BD6-5149E56FE1B7}"/>
              </a:ext>
            </a:extLst>
          </p:cNvPr>
          <p:cNvSpPr txBox="1"/>
          <p:nvPr/>
        </p:nvSpPr>
        <p:spPr>
          <a:xfrm>
            <a:off x="9563881" y="6391255"/>
            <a:ext cx="6835198" cy="9779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39"/>
              </a:lnSpc>
            </a:pPr>
            <a:r>
              <a:rPr lang="pl-PL" sz="2599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Korišćene slike (Images):</a:t>
            </a:r>
            <a:endParaRPr lang="en-US" sz="2599" dirty="0">
              <a:solidFill>
                <a:srgbClr val="FEFEF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87E22161-4A27-8518-F216-958B3B340DCE}"/>
              </a:ext>
            </a:extLst>
          </p:cNvPr>
          <p:cNvSpPr txBox="1"/>
          <p:nvPr/>
        </p:nvSpPr>
        <p:spPr>
          <a:xfrm>
            <a:off x="9144000" y="7768070"/>
            <a:ext cx="7606723" cy="94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zephyr-build –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Obezbedio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alate i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kompajlere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za RTOS.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ros:humble-desktop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Obezbedio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čist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Linux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integrisanim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ROS2 </a:t>
            </a:r>
            <a:r>
              <a:rPr lang="en-US" sz="18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paketima</a:t>
            </a:r>
            <a:r>
              <a:rPr lang="en-US" sz="18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162065" cy="8229600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5667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40172" y="4142535"/>
            <a:ext cx="4719128" cy="5115765"/>
            <a:chOff x="0" y="0"/>
            <a:chExt cx="6292171" cy="682102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235367" cy="6821020"/>
              <a:chOff x="0" y="0"/>
              <a:chExt cx="1981368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81368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1981368" h="2167467">
                    <a:moveTo>
                      <a:pt x="0" y="0"/>
                    </a:moveTo>
                    <a:lnTo>
                      <a:pt x="1981368" y="0"/>
                    </a:lnTo>
                    <a:lnTo>
                      <a:pt x="1981368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004A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981368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3061488" y="0"/>
              <a:ext cx="3230683" cy="3410510"/>
            </a:xfrm>
            <a:custGeom>
              <a:avLst/>
              <a:gdLst/>
              <a:ahLst/>
              <a:cxnLst/>
              <a:rect l="l" t="t" r="r" b="b"/>
              <a:pathLst>
                <a:path w="3230683" h="3410510">
                  <a:moveTo>
                    <a:pt x="0" y="0"/>
                  </a:moveTo>
                  <a:lnTo>
                    <a:pt x="3230683" y="0"/>
                  </a:lnTo>
                  <a:lnTo>
                    <a:pt x="3230683" y="3410510"/>
                  </a:lnTo>
                  <a:lnTo>
                    <a:pt x="0" y="341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3410510"/>
              <a:ext cx="3230683" cy="3410510"/>
            </a:xfrm>
            <a:custGeom>
              <a:avLst/>
              <a:gdLst/>
              <a:ahLst/>
              <a:cxnLst/>
              <a:rect l="l" t="t" r="r" b="b"/>
              <a:pathLst>
                <a:path w="3230683" h="3410510">
                  <a:moveTo>
                    <a:pt x="3230683" y="3410510"/>
                  </a:moveTo>
                  <a:lnTo>
                    <a:pt x="0" y="3410510"/>
                  </a:lnTo>
                  <a:lnTo>
                    <a:pt x="0" y="0"/>
                  </a:lnTo>
                  <a:lnTo>
                    <a:pt x="3230683" y="0"/>
                  </a:lnTo>
                  <a:lnTo>
                    <a:pt x="3230683" y="341051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4202" y="711467"/>
              <a:ext cx="5054571" cy="5398086"/>
            </a:xfrm>
            <a:custGeom>
              <a:avLst/>
              <a:gdLst/>
              <a:ahLst/>
              <a:cxnLst/>
              <a:rect l="l" t="t" r="r" b="b"/>
              <a:pathLst>
                <a:path w="5054571" h="5398086">
                  <a:moveTo>
                    <a:pt x="0" y="0"/>
                  </a:moveTo>
                  <a:lnTo>
                    <a:pt x="5054572" y="0"/>
                  </a:lnTo>
                  <a:lnTo>
                    <a:pt x="5054572" y="5398086"/>
                  </a:lnTo>
                  <a:lnTo>
                    <a:pt x="0" y="539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26856" y="2110685"/>
            <a:ext cx="14234288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0"/>
              </a:lnSpc>
            </a:pPr>
            <a:r>
              <a:rPr lang="en-US" sz="6731" spc="-437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Zaključak</a:t>
            </a:r>
            <a:endParaRPr lang="en-US" sz="6731" spc="-437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26856" y="5143500"/>
            <a:ext cx="9385844" cy="2556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IoT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sistemi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zahtevaju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specifičan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pristup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zavisnosti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od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hardvera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Zephyr je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optimalan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za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sirove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mikrokontrolere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gde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je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predvidljivost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"real-time"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odziv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kritičan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ROS2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briljira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distribuiranim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sistemima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gde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mnogo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nezavisnih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senzora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aktuatora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mora da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komunicira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jednostavan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standardizovan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način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Korišćenje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naprednih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alata (Docker, native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simulatori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značajno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ubrzava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razvoj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prototipova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pre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prelaska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pravi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hardver</a:t>
            </a:r>
            <a:r>
              <a:rPr lang="en-US" sz="2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1028700" y="4180635"/>
            <a:ext cx="11837487" cy="0"/>
          </a:xfrm>
          <a:prstGeom prst="line">
            <a:avLst/>
          </a:prstGeom>
          <a:ln w="762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613345" cy="2533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05425" y="4302310"/>
            <a:ext cx="14477150" cy="1706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3"/>
              </a:lnSpc>
            </a:pPr>
            <a:r>
              <a:rPr lang="en-US" sz="8000" b="1" spc="-300" dirty="0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Hvala </a:t>
            </a:r>
            <a:r>
              <a:rPr lang="en-US" sz="8000" b="1" spc="-300" dirty="0" err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na</a:t>
            </a:r>
            <a:r>
              <a:rPr lang="en-US" sz="8000" b="1" spc="-300" dirty="0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 pa</a:t>
            </a:r>
            <a:r>
              <a:rPr lang="sr-Latn-RS" sz="8000" b="1" spc="-300" dirty="0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žnji!</a:t>
            </a:r>
            <a:endParaRPr lang="en-US" sz="8000" b="1" spc="-300" dirty="0">
              <a:solidFill>
                <a:srgbClr val="004AAD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4230708" y="3576106"/>
            <a:ext cx="1478228" cy="398555"/>
            <a:chOff x="0" y="0"/>
            <a:chExt cx="1970971" cy="531406"/>
          </a:xfrm>
        </p:grpSpPr>
        <p:grpSp>
          <p:nvGrpSpPr>
            <p:cNvPr id="18" name="Group 18"/>
            <p:cNvGrpSpPr/>
            <p:nvPr/>
          </p:nvGrpSpPr>
          <p:grpSpPr>
            <a:xfrm>
              <a:off x="1439565" y="0"/>
              <a:ext cx="531406" cy="53140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21906" y="0"/>
              <a:ext cx="531406" cy="531406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531406" cy="531406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2389228" y="6603068"/>
            <a:ext cx="1478228" cy="398555"/>
            <a:chOff x="0" y="0"/>
            <a:chExt cx="1970971" cy="531406"/>
          </a:xfrm>
        </p:grpSpPr>
        <p:grpSp>
          <p:nvGrpSpPr>
            <p:cNvPr id="28" name="Group 28"/>
            <p:cNvGrpSpPr/>
            <p:nvPr/>
          </p:nvGrpSpPr>
          <p:grpSpPr>
            <a:xfrm>
              <a:off x="1439565" y="0"/>
              <a:ext cx="531406" cy="531406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21906" y="0"/>
              <a:ext cx="531406" cy="53140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531406" cy="531406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37" name="Group 14">
            <a:extLst>
              <a:ext uri="{FF2B5EF4-FFF2-40B4-BE49-F238E27FC236}">
                <a16:creationId xmlns:a16="http://schemas.microsoft.com/office/drawing/2014/main" id="{703DC927-D14F-0E27-8BD4-1AFE167854C1}"/>
              </a:ext>
            </a:extLst>
          </p:cNvPr>
          <p:cNvGrpSpPr/>
          <p:nvPr/>
        </p:nvGrpSpPr>
        <p:grpSpPr>
          <a:xfrm>
            <a:off x="1575332" y="1644640"/>
            <a:ext cx="7217209" cy="977937"/>
            <a:chOff x="0" y="-27556"/>
            <a:chExt cx="1900829" cy="257563"/>
          </a:xfrm>
        </p:grpSpPr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AE28BA46-DE77-10B3-2627-854CAC97C0B8}"/>
                </a:ext>
              </a:extLst>
            </p:cNvPr>
            <p:cNvSpPr/>
            <p:nvPr/>
          </p:nvSpPr>
          <p:spPr>
            <a:xfrm>
              <a:off x="0" y="0"/>
              <a:ext cx="1900829" cy="209938"/>
            </a:xfrm>
            <a:custGeom>
              <a:avLst/>
              <a:gdLst/>
              <a:ahLst/>
              <a:cxnLst/>
              <a:rect l="l" t="t" r="r" b="b"/>
              <a:pathLst>
                <a:path w="1900829" h="209938">
                  <a:moveTo>
                    <a:pt x="203200" y="0"/>
                  </a:moveTo>
                  <a:lnTo>
                    <a:pt x="1900829" y="0"/>
                  </a:lnTo>
                  <a:lnTo>
                    <a:pt x="1697629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4468A412-6A0D-EDF0-3067-0154B9D4CBEE}"/>
                </a:ext>
              </a:extLst>
            </p:cNvPr>
            <p:cNvSpPr txBox="1"/>
            <p:nvPr/>
          </p:nvSpPr>
          <p:spPr>
            <a:xfrm>
              <a:off x="101600" y="-27556"/>
              <a:ext cx="1697629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800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Napredni </a:t>
              </a:r>
              <a:r>
                <a:rPr lang="en-US" sz="2800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operativni</a:t>
              </a:r>
              <a:r>
                <a:rPr lang="en-US" sz="2800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800" dirty="0" err="1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sistemi</a:t>
              </a:r>
              <a:endParaRPr lang="en-US" sz="2800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097E1FD-04CE-95A6-77BA-285A12F825BA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548" y="1754935"/>
            <a:ext cx="682716" cy="663483"/>
          </a:xfrm>
          <a:prstGeom prst="rect">
            <a:avLst/>
          </a:prstGeom>
          <a:noFill/>
        </p:spPr>
      </p:pic>
      <p:grpSp>
        <p:nvGrpSpPr>
          <p:cNvPr id="44" name="Group 14">
            <a:extLst>
              <a:ext uri="{FF2B5EF4-FFF2-40B4-BE49-F238E27FC236}">
                <a16:creationId xmlns:a16="http://schemas.microsoft.com/office/drawing/2014/main" id="{2BC6FE50-AAC8-BAEC-B036-8A6F06A93159}"/>
              </a:ext>
            </a:extLst>
          </p:cNvPr>
          <p:cNvGrpSpPr/>
          <p:nvPr/>
        </p:nvGrpSpPr>
        <p:grpSpPr>
          <a:xfrm>
            <a:off x="8792541" y="7594563"/>
            <a:ext cx="7217209" cy="977937"/>
            <a:chOff x="0" y="-27556"/>
            <a:chExt cx="1900829" cy="257563"/>
          </a:xfrm>
        </p:grpSpPr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B03616-78F9-09D1-FC0D-A8E17BF115B2}"/>
                </a:ext>
              </a:extLst>
            </p:cNvPr>
            <p:cNvSpPr/>
            <p:nvPr/>
          </p:nvSpPr>
          <p:spPr>
            <a:xfrm>
              <a:off x="0" y="0"/>
              <a:ext cx="1900829" cy="209938"/>
            </a:xfrm>
            <a:custGeom>
              <a:avLst/>
              <a:gdLst/>
              <a:ahLst/>
              <a:cxnLst/>
              <a:rect l="l" t="t" r="r" b="b"/>
              <a:pathLst>
                <a:path w="1900829" h="209938">
                  <a:moveTo>
                    <a:pt x="203200" y="0"/>
                  </a:moveTo>
                  <a:lnTo>
                    <a:pt x="1900829" y="0"/>
                  </a:lnTo>
                  <a:lnTo>
                    <a:pt x="1697629" y="209938"/>
                  </a:lnTo>
                  <a:lnTo>
                    <a:pt x="0" y="2099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F0DF638A-70BF-C23D-53C7-90ABD70DD253}"/>
                </a:ext>
              </a:extLst>
            </p:cNvPr>
            <p:cNvSpPr txBox="1"/>
            <p:nvPr/>
          </p:nvSpPr>
          <p:spPr>
            <a:xfrm>
              <a:off x="101600" y="-27556"/>
              <a:ext cx="1697629" cy="257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FEFEFE"/>
                  </a:solidFill>
                  <a:latin typeface="Inter"/>
                  <a:ea typeface="Inter"/>
                  <a:cs typeface="Inter"/>
                  <a:sym typeface="Inter"/>
                </a:rPr>
                <a:t>Aleksandar Đorđević 2147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831</Words>
  <Application>Microsoft Office PowerPoint</Application>
  <PresentationFormat>Custom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Tomorrow Bold</vt:lpstr>
      <vt:lpstr>Poppins</vt:lpstr>
      <vt:lpstr>Calibri</vt:lpstr>
      <vt:lpstr>Inter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Modern Technology Presentation</dc:title>
  <cp:lastModifiedBy>Aleksandar DJordjevic</cp:lastModifiedBy>
  <cp:revision>3</cp:revision>
  <dcterms:created xsi:type="dcterms:W3CDTF">2006-08-16T00:00:00Z</dcterms:created>
  <dcterms:modified xsi:type="dcterms:W3CDTF">2026-07-19T20:52:19Z</dcterms:modified>
  <dc:identifier>DAHLoQYh-Tw</dc:identifier>
</cp:coreProperties>
</file>